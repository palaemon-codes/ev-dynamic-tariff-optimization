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5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C4DE"/>
                </a:solidFill>
              </a:rPr>
              <a:t>SOC / BIZ  ·  OPEN PROJECT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Agentic AI-Based Dynamic Tariff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Optimization for EV Charging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7860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Using large-scale real-world charging session data to model demand, optimize per-kWh tariffs, and evaluate revenue and utilization outcomes through a multi-agent agentic AI pipeline.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310128"/>
            <a:ext cx="10241280" cy="36576"/>
          </a:xfrm>
          <a:prstGeom prst="rect">
            <a:avLst/>
          </a:prstGeom>
          <a:solidFill>
            <a:srgbClr val="E5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3310128" cy="960120"/>
          </a:xfrm>
          <a:prstGeom prst="rect">
            <a:avLst/>
          </a:prstGeom>
          <a:solidFill>
            <a:srgbClr val="12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474720"/>
            <a:ext cx="36576" cy="960120"/>
          </a:xfrm>
          <a:prstGeom prst="rect">
            <a:avLst/>
          </a:prstGeom>
          <a:solidFill>
            <a:srgbClr val="E5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557015"/>
            <a:ext cx="3172968" cy="49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184,113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973982"/>
            <a:ext cx="3172968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Station-hours analyzed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95928" y="3474720"/>
            <a:ext cx="3310128" cy="960120"/>
          </a:xfrm>
          <a:prstGeom prst="rect">
            <a:avLst/>
          </a:prstGeom>
          <a:solidFill>
            <a:srgbClr val="12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95928" y="3474720"/>
            <a:ext cx="36576" cy="960120"/>
          </a:xfrm>
          <a:prstGeom prst="rect">
            <a:avLst/>
          </a:prstGeom>
          <a:solidFill>
            <a:srgbClr val="E5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5656" y="3557015"/>
            <a:ext cx="3172968" cy="49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656" y="3973982"/>
            <a:ext cx="3172968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Stations · 2 real networks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88936" y="3474720"/>
            <a:ext cx="3310128" cy="960120"/>
          </a:xfrm>
          <a:prstGeom prst="rect">
            <a:avLst/>
          </a:prstGeom>
          <a:solidFill>
            <a:srgbClr val="12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88936" y="3474720"/>
            <a:ext cx="36576" cy="960120"/>
          </a:xfrm>
          <a:prstGeom prst="rect">
            <a:avLst/>
          </a:prstGeom>
          <a:solidFill>
            <a:srgbClr val="E5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3" y="3557015"/>
            <a:ext cx="3172968" cy="49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R² = 0.971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3" y="3973982"/>
            <a:ext cx="3172968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E"/>
                </a:solidFill>
              </a:rPr>
              <a:t>Demand model fit (holdout)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Praneshwar Kannan Kommiya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846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B.Tech (Mechanical Engineering)  ·  3rd Year  ·  IIT Roorkee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A0C0"/>
                </a:solidFill>
              </a:rPr>
              <a:t>Indian Institute of Technology, Roorkee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92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End-to-end agentic AI pipeline on official EV charging datasets — no synthetic data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39128"/>
            <a:ext cx="12188952" cy="54864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9144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790"/>
                </a:solidFill>
              </a:rPr>
              <a:t>Praneshwar Kannan Kommiya  ·  B.Tech (ME), 3rd Year  ·  IIT Roorkee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78992"/>
            <a:ext cx="11475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B44"/>
                </a:solidFill>
              </a:rPr>
              <a:t>Can demand-responsive dynamic pricing unlock measurable revenue and utilisation gains in real-world EV charging networks?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2743200" cy="1097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645920"/>
            <a:ext cx="36576" cy="10972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728216"/>
            <a:ext cx="2606040" cy="57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AD73"/>
                </a:solidFill>
              </a:rPr>
              <a:t>28.5 %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216505"/>
            <a:ext cx="2606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Revenue Uplift
vs. Rs.15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1645920"/>
            <a:ext cx="2743200" cy="1097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7832" y="1645920"/>
            <a:ext cx="36576" cy="10972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728216"/>
            <a:ext cx="2606040" cy="57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5FAB"/>
                </a:solidFill>
              </a:rPr>
              <a:t>+11.1 %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16505"/>
            <a:ext cx="2606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Session Response
under pricing signal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1645920"/>
            <a:ext cx="2743200" cy="1097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645920"/>
            <a:ext cx="36576" cy="10972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728216"/>
            <a:ext cx="2606040" cy="57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6E3A"/>
                </a:solidFill>
              </a:rPr>
              <a:t>0.971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216505"/>
            <a:ext cx="2606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Demand Model R²
(held-out 20 %)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645920"/>
            <a:ext cx="2743200" cy="1097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45920"/>
            <a:ext cx="36576" cy="10972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1728216"/>
            <a:ext cx="2606040" cy="57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A2A2"/>
                </a:solidFill>
              </a:rPr>
              <a:t>0.23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2216505"/>
            <a:ext cx="2606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Avg. Wait Time
Reduction (simulated)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944368"/>
            <a:ext cx="11475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C1B44"/>
                </a:solidFill>
              </a:rPr>
              <a:t>Key Findings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Two verified datasets — ACN-Data (Pasadena, USA) and ST-EVCDP (Shenzhen, China) — provide 184,113 station-hour observations across 351 charging stations.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Ridge regression trained on 60,000 sampled rows achieves R² = 0.971 on a chronological 20 % holdout; utilisation RMSE = 0.049 (≈5 percentage-point miss per station-hour).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The tariff agent evaluates 8 price candidates per observation and recommends surge pricing in 99.9 % of cases — consistent with an average utilisation of only 26 %, indicating latent capacity that current prices under-exploit.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Monitoring simulation returns +28.5 % revenue and +11.1 % session response; off-peak uplift of −0.29 % signals that the current elasticity calibration undervalues off-peak price sensitivity.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Limitations: monitoring feedback is simulated with ±4 % demand noise, not from a live A/B trial; elasticity parameters are literature-derived, not estimated from observed price-response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Data Landscape &amp;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92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Two real-world networks  ·  184,113 station-hours  ·  4-year span  ·  zero synthetic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C4DE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9128"/>
            <a:ext cx="12188952" cy="54864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790"/>
                </a:solidFill>
              </a:rPr>
              <a:t>Praneshwar Kannan Kommiya  ·  B.Tech (ME), 3rd Year  ·  IIT Roorkee  · 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6675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65960"/>
                <a:gridCol w="1508760"/>
                <a:gridCol w="932688"/>
                <a:gridCol w="850392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C1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C1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0C1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Stations</a:t>
                      </a:r>
                    </a:p>
                  </a:txBody>
                  <a:tcPr>
                    <a:solidFill>
                      <a:srgbClr val="0C1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0C1B4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ACN-Data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Caltech + JPL, Pasadena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Apr – Nov 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104 spaces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6,273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ST-EVCDP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Grid zones, Shenzhen, China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Jun – Jul 2022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247 zones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535"/>
                          </a:solidFill>
                        </a:rPr>
                        <a:t>177,840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1B44"/>
                          </a:solidFill>
                        </a:rPr>
                        <a:t>Combined</a:t>
                      </a:r>
                    </a:p>
                  </a:txBody>
                  <a:tcPr>
                    <a:solidFill>
                      <a:srgbClr val="E4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1B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4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1B44"/>
                          </a:solidFill>
                        </a:rPr>
                        <a:t>2018 – 2022</a:t>
                      </a:r>
                    </a:p>
                  </a:txBody>
                  <a:tcPr>
                    <a:solidFill>
                      <a:srgbClr val="E4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1B44"/>
                          </a:solidFill>
                        </a:rPr>
                        <a:t>351 stations</a:t>
                      </a:r>
                    </a:p>
                  </a:txBody>
                  <a:tcPr>
                    <a:solidFill>
                      <a:srgbClr val="E4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1B44"/>
                          </a:solidFill>
                        </a:rPr>
                        <a:t>184,113</a:t>
                      </a:r>
                    </a:p>
                  </a:txBody>
                  <a:tcPr>
                    <a:solidFill>
                      <a:srgbClr val="E4F0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78040" y="1115568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1B44"/>
                </a:solidFill>
              </a:rPr>
              <a:t>Feature Engineering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5-minute ST-EVCDP intervals aggregated to hourly zone-level observations for temporal alignment with ACN sessions.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Truncated ACN JSON exports repaired via tolerant parsing — all session records recovered without data loss.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23 engineered features: demand lags at 1h / 24h / 168h, rolling 24h mean &amp; std, utilisation proxies, and time flags.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Three pricing segments derived from time-of-day — peak (8am–6pm), shoulder, off-peak — applied uniformly.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Final matrix: 184,113 × 27 (23 numeric + 4 categorical: station, site, source, segment).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72384"/>
            <a:ext cx="1298448" cy="3840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072384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C1B44"/>
                </a:solidFill>
              </a:rPr>
              <a:t>Raw JSON /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3072384"/>
            <a:ext cx="54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5FAB"/>
                </a:solidFill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82495" y="3072384"/>
            <a:ext cx="1298448" cy="3840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82495" y="3072384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C1B44"/>
                </a:solidFill>
              </a:rPr>
              <a:t>Repair &amp; 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072384"/>
            <a:ext cx="54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5FAB"/>
                </a:solidFill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3072384"/>
            <a:ext cx="1298448" cy="3840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3072384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C1B44"/>
                </a:solidFill>
              </a:rPr>
              <a:t>Hourly Agg.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72384"/>
            <a:ext cx="54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5FAB"/>
                </a:solidFill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7" y="3072384"/>
            <a:ext cx="1298448" cy="3840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7" y="3072384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C1B44"/>
                </a:solidFill>
              </a:rPr>
              <a:t>Feature Eng.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5855" y="3072384"/>
            <a:ext cx="54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5FAB"/>
                </a:solidFill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9864" y="3072384"/>
            <a:ext cx="1298448" cy="38404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9864" y="3072384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C1B44"/>
                </a:solidFill>
              </a:rPr>
              <a:t>Analytics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529584"/>
            <a:ext cx="6656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790"/>
                </a:solidFill>
              </a:rPr>
              <a:t>Data → repair → hourly aggregation → feature engineering → analytics 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40480"/>
            <a:ext cx="6656832" cy="8686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40480"/>
            <a:ext cx="36576" cy="868680"/>
          </a:xfrm>
          <a:prstGeom prst="rect">
            <a:avLst/>
          </a:prstGeom>
          <a:solidFill>
            <a:srgbClr val="E5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04488"/>
            <a:ext cx="6473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6020"/>
                </a:solidFill>
              </a:rPr>
              <a:t>Assumption: ACN-Data records session-level energy (kWh per connection); ST-EVCDP records zone-level occupancy, volume, and duration at 5-minute intervals. These are structurally different granularities united at the hourly station-zone level. 96.6 % of the analytical base is from ST-EVCDP.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773168"/>
            <a:ext cx="6656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790"/>
                </a:solidFill>
              </a:rPr>
              <a:t>ST-EVCDP avg demand: 440.1 kWh / station-hour  ·  ACN avg demand: 10.2 kWh /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EDA: Demand Patterns, Utilisation &amp; Temporal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92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ST-EVCDP: 247 grid zones  ·  June 19 – July 18 2022  ·  5-min granularity aggregated to hourly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C4DE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9128"/>
            <a:ext cx="12188952" cy="54864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790"/>
                </a:solidFill>
              </a:rPr>
              <a:t>Praneshwar Kannan Kommiya  ·  B.Tech (ME), 3rd Year  ·  IIT Roorkee  ·  2026</a:t>
            </a:r>
          </a:p>
        </p:txBody>
      </p:sp>
      <p:pic>
        <p:nvPicPr>
          <p:cNvPr id="9" name="Picture 8" descr="hourly_demand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5806440" cy="3246120"/>
          </a:xfrm>
          <a:prstGeom prst="rect">
            <a:avLst/>
          </a:prstGeom>
        </p:spPr>
      </p:pic>
      <p:pic>
        <p:nvPicPr>
          <p:cNvPr id="10" name="Picture 9" descr="utiliz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078992"/>
            <a:ext cx="5596128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4389120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790"/>
                </a:solidFill>
              </a:rPr>
              <a:t>Fig. 1 — Hourly demand profile across pricing segments (ST-EVCDP)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4389120"/>
            <a:ext cx="5596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790"/>
                </a:solidFill>
              </a:rPr>
              <a:t>Fig. 2 — Station utilisation heatmap (zone × hour-of-day)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63440"/>
            <a:ext cx="283464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663440"/>
            <a:ext cx="36576" cy="91440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745736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5FAB"/>
                </a:solidFill>
              </a:rPr>
              <a:t>26.3 %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138927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Average utilisation rate across all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1" y="4663440"/>
            <a:ext cx="283464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3551" y="4663440"/>
            <a:ext cx="36576" cy="91440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4745736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5FAB"/>
                </a:solidFill>
              </a:rPr>
              <a:t>3 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5138927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Peak 24.6 %  ·  Shoulder 42.5 %  ·  Off-peak 32.9 %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3" y="4663440"/>
            <a:ext cx="283464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3" y="4663440"/>
            <a:ext cx="36576" cy="91440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745736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5FAB"/>
                </a:solidFill>
              </a:rPr>
              <a:t>42 % higher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138927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Peak vs. off-peak avg. demand (same day)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2016" y="4663440"/>
            <a:ext cx="283464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72016" y="4663440"/>
            <a:ext cx="36576" cy="91440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4745736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5FAB"/>
                </a:solidFill>
              </a:rPr>
              <a:t>168h lag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5138927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Strongest single predictor in demand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669280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790"/>
                </a:solidFill>
              </a:rPr>
              <a:t>Observation: 26 % average utilisation indicates structural headroom — price incentives can shift demand to low-traffic windows without new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Demand Prediction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92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Ridge regression  ·  23 features  ·  80/20 chronological split  ·  60 K training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C4DE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9128"/>
            <a:ext cx="12188952" cy="54864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790"/>
                </a:solidFill>
              </a:rPr>
              <a:t>Praneshwar Kannan Kommiya  ·  B.Tech (ME), 3rd Year  ·  IIT Roorkee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C1B44"/>
                </a:solidFill>
              </a:rPr>
              <a:t>Methodology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Three parallel pipelines: demand (kWh), utilisation rate, and congestion probability.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Ridge regression (α = 1.0) for demand and utilisation; logistic classifier (liblinear) for congestion.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One-hot encoded categoricals: station ID, site ID, data source, pricing segment.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Training frame capped at 60,000 rows sampled from 147,290 chronological train records to manage memory and speed.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Inference applied to the full 184,113-row analytical base for complete predictions.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Congestion threshold: utilisation ≥ 80 % of rated capacity = congestion event.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115568"/>
          <a:ext cx="591616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371600"/>
                <a:gridCol w="257860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C1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C1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0C1B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Demand 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2535"/>
                          </a:solidFill>
                        </a:rPr>
                        <a:t>217.3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High absolute error; demand range is 0–2,000+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Demand  MAE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2535"/>
                          </a:solidFill>
                        </a:rPr>
                        <a:t>85.3 kWh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~19 % of mean ST-EVCDP demand (440 kWh)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Demand 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4AD73"/>
                          </a:solidFill>
                        </a:rPr>
                        <a:t>0.971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Strong generalisation on the held-out 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Utilisation  RMSE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2535"/>
                          </a:solidFill>
                        </a:rPr>
                        <a:t>0.049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≈5 percentage-point miss per station-hour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Congestion Prob.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2535"/>
                          </a:solidFill>
                        </a:rPr>
                        <a:t>0.49 %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Mean across test set — proxy metric (not direct obs.)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Training Rows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2535"/>
                          </a:solidFill>
                        </a:rPr>
                        <a:t>60,000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535"/>
                          </a:solidFill>
                        </a:rPr>
                        <a:t>Sampled; full train set = 147,290 rows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4709160"/>
            <a:ext cx="5916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790"/>
                </a:solidFill>
              </a:rPr>
              <a:t>High RMSE reflects the wide demand range in Shenzhen zone data (0–2,000+ kWh / hour). R² = 0.971 is the primary generalisation signal.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193792"/>
            <a:ext cx="5394960" cy="7772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5193792"/>
            <a:ext cx="36576" cy="777240"/>
          </a:xfrm>
          <a:prstGeom prst="rect">
            <a:avLst/>
          </a:prstGeom>
          <a:solidFill>
            <a:srgbClr val="E5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578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6020"/>
                </a:solidFill>
              </a:rPr>
              <a:t>Assumption: Chronological split prevents look-ahead leakage. Sampling 60 K from 147 K training rows sacrifices some coverage for tractability but preserves structural diversity across stations, times, and pricing segments.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Dynamic Tariff Optimisation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92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Score-based optimisation  ·  8 price candidates  ·  segment-aware elasticity  ·  Rs.15/kWh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C4DE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9128"/>
            <a:ext cx="12188952" cy="54864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790"/>
                </a:solidFill>
              </a:rPr>
              <a:t>Praneshwar Kannan Kommiya  ·  B.Tech (ME), 3rd Year  ·  IIT Roorkee  ·  2026</a:t>
            </a:r>
          </a:p>
        </p:txBody>
      </p:sp>
      <p:pic>
        <p:nvPicPr>
          <p:cNvPr id="9" name="Picture 8" descr="tariff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5806440" cy="3520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663440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790"/>
                </a:solidFill>
              </a:rPr>
              <a:t>Fig. 3 — Tariff signal map by station and pricing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15568"/>
            <a:ext cx="564184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C1B44"/>
                </a:solidFill>
              </a:rPr>
              <a:t>Pricing Logic &amp; Observations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8 candidate tariffs tested per record: Rs.11.25 → Rs.20.25 (75 %–135 % of the Rs.15 baseline).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Score function: expected revenue − congestion penalty + off-peak demand-shift bonus.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Segment elasticity: peak = 0.06–0.09 (inelastic), shoulder = 0.12, off-peak = 0.22 (price-sensitive).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99.9 % of decisions → surge; 0.1 % → discount — consistent with 26 % avg. utilisation and abundant headroom.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Average recommended tariff: Rs.20.25/kWh (35 % premium over fixed baseline).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Off-peak uplift of −0.29 % suggests discount incentives in that window need stronger elasticity calibration.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983480"/>
            <a:ext cx="28346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983480"/>
            <a:ext cx="36576" cy="8686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5065776"/>
            <a:ext cx="269748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AD73"/>
                </a:solidFill>
              </a:rPr>
              <a:t>Rs.20.25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35193"/>
            <a:ext cx="2697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Avg. recommended tariff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1" y="4983480"/>
            <a:ext cx="28346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1" y="4983480"/>
            <a:ext cx="36576" cy="8686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5065776"/>
            <a:ext cx="269748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AD73"/>
                </a:solidFill>
              </a:rPr>
              <a:t>+35 %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5435193"/>
            <a:ext cx="2697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Premium over Rs.15 floor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3" y="4983480"/>
            <a:ext cx="28346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3" y="4983480"/>
            <a:ext cx="36576" cy="8686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5065776"/>
            <a:ext cx="269748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6E3A"/>
                </a:solidFill>
              </a:rPr>
              <a:t>99.9 %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435193"/>
            <a:ext cx="2697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Surge signal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72016" y="4983480"/>
            <a:ext cx="28346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72016" y="4983480"/>
            <a:ext cx="36576" cy="8686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5065776"/>
            <a:ext cx="269748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A2A2"/>
                </a:solidFill>
              </a:rPr>
              <a:t>0.1 %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5435193"/>
            <a:ext cx="2697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Discount trigger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943600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790"/>
                </a:solidFill>
              </a:rPr>
              <a:t>Limitation: Near-universal surge may reflect the dataset's demand levels rather than a pricing discovery failure. Elasticity recalibration is needed before production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Monitoring &amp;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92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Simulated post-pricing feedback  ·  ±4 % demand noise overlay  ·  not a live A/B test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C4DE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9128"/>
            <a:ext cx="12188952" cy="54864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790"/>
                </a:solidFill>
              </a:rPr>
              <a:t>Praneshwar Kannan Kommiya  ·  B.Tech (ME), 3rd Year  ·  IIT Roorkee  ·  2026</a:t>
            </a:r>
          </a:p>
        </p:txBody>
      </p:sp>
      <p:pic>
        <p:nvPicPr>
          <p:cNvPr id="9" name="Picture 8" descr="station_utilization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580644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572000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790"/>
                </a:solidFill>
              </a:rPr>
              <a:t>Fig. 4 — Station utilisation ranking under optimised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15568"/>
            <a:ext cx="5641848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C1B44"/>
                </a:solidFill>
              </a:rPr>
              <a:t>Agent Feedback Results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Revenue gain: +28.5 % over the fixed Rs.15/kWh baseline across 177,840 ST-EVCDP station-hours.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Customer session response: +11.1 % increase in session count under dynamic pricing signals.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Average wait time reduction: 0.23 minutes per station-hour under optimised dispatch allocation.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Pricing efficiency score: Rs.20.24/kWh — matches the average recommended tariff closely.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Off-peak uplift: −0.29 % (marginal / negative) — discount lever needs recalibration.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Elasticity update rule: ΔE = 0.20 × (actual − expected) / predicted demand, applied per observation.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892040"/>
            <a:ext cx="28346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892040"/>
            <a:ext cx="36576" cy="8686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974336"/>
            <a:ext cx="269748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AD73"/>
                </a:solidFill>
              </a:rPr>
              <a:t>28.5 %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343753"/>
            <a:ext cx="2697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Revenue Gain (simulated)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1" y="4892040"/>
            <a:ext cx="28346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1" y="4892040"/>
            <a:ext cx="36576" cy="8686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4974336"/>
            <a:ext cx="269748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5FAB"/>
                </a:solidFill>
              </a:rPr>
              <a:t>+11.1 %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5343753"/>
            <a:ext cx="2697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Session Response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3" y="4892040"/>
            <a:ext cx="28346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3" y="4892040"/>
            <a:ext cx="36576" cy="8686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974336"/>
            <a:ext cx="269748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A2A2"/>
                </a:solidFill>
              </a:rPr>
              <a:t>0.23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343753"/>
            <a:ext cx="2697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Avg. Wait Time Reduction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72016" y="4892040"/>
            <a:ext cx="28346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72016" y="4892040"/>
            <a:ext cx="36576" cy="8686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4974336"/>
            <a:ext cx="2697480" cy="45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6E3A"/>
                </a:solidFill>
              </a:rPr>
              <a:t>Rs.20.24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5343753"/>
            <a:ext cx="2697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790"/>
                </a:solidFill>
              </a:rPr>
              <a:t>Pricing Efficiency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852160"/>
            <a:ext cx="11475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790"/>
                </a:solidFill>
              </a:rPr>
              <a:t>All monitoring metrics are derived from simulated feedback using ±4 % noise overlaid on model predictions. Actual outcomes in a live trial may differ — particularly off-peak demand elasticity.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Business Implications, Operations &amp; Policy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92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Revenue quantification  ·  grid stress reduction  ·  operator workflow  ·  regulatory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28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0C4DE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9128"/>
            <a:ext cx="12188952" cy="54864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790"/>
                </a:solidFill>
              </a:rPr>
              <a:t>Praneshwar Kannan Kommiya  ·  B.Tech (ME), 3rd Year  ·  IIT Roorkee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15568"/>
            <a:ext cx="3767328" cy="384048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33856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Revenue &amp; Commercial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572768"/>
            <a:ext cx="3794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Rs.15→Rs.20 shift on 177K station-hours implies ~Rs.885K additional gross revenue at ST-EVCDP scale.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+28.5 % revenue uplift achieved without additional infrastructure — software-layer pricing change only.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+11.1 % session response indicates operators can grow throughput through demand shaping alone.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Risk: near-universal surge may suppress off-peak sessions if users lack price flexibility or alternatives.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115568"/>
            <a:ext cx="3767328" cy="384048"/>
          </a:xfrm>
          <a:prstGeom prst="rect">
            <a:avLst/>
          </a:prstGeom>
          <a:solidFill>
            <a:srgbClr val="0D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133856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Grid &amp;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1572768"/>
            <a:ext cx="3794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26 % avg. utilisation leaves structural capacity idle — off-peak discounts can redirect latent demand.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Stations at ≥80 % utilisation should trigger automated surge before any manual intervention is needed.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0.23 min wait reduction per station-hour compounds meaningfully at scale across dense urban grids.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Zone-level pricing signals align with distribution network congestion management frameworks.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115568"/>
            <a:ext cx="3767328" cy="384048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133856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Policy &amp; Regulatory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572768"/>
            <a:ext cx="3794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Segment-based dynamic tariffs align with CERC smart-grid integration mandates for EV infrastructure in India.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Shenzhen operators can integrate the occupancy-signal framework with grid dispatch systems directly.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Off-peak incentives reduce peak load stress — consistent with national grid reliability objectives.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535"/>
                </a:solidFill>
              </a:rPr>
              <a:t>—  Ridge regression + explicit elasticity table makes the model auditable for regulatory review processes.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742432"/>
            <a:ext cx="11640312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742432"/>
            <a:ext cx="36576" cy="822960"/>
          </a:xfrm>
          <a:prstGeom prst="rect">
            <a:avLst/>
          </a:prstGeom>
          <a:solidFill>
            <a:srgbClr val="E5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806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6020"/>
                </a:solidFill>
              </a:rPr>
              <a:t>Limitations:  (1) Monitoring feedback is simulated — not from a live A/B test.  (2) Elasticity parameters (0.06–0.22) are literature-derived, not empirically estimated from price-response data.  (3) ACN-Data represents a small US campus sample; regional generalisation to India requires local calibration.  (4) The model does not account for multi-station competitive pricing dynamics or consumer switching behaviour.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5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C5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004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Supporting material: feature definitions, pricing config, dataset provenance, full metrics, pipeline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6E3A"/>
                </a:solidFill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Full feature engineering table — 23 numeric + 4 categorical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8404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6E3A"/>
                </a:solidFill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840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Pricing config — Rs.15 baseline, 8-point candidate grid, segment elasticity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159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6E3A"/>
                </a:solidFill>
              </a:rPr>
              <a:t>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3159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Dataset provenance — ACN-Data API, ST-EVCDP (IntelligentSystemsLab, GitHub)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3159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6E3A"/>
                </a:solidFill>
              </a:rPr>
              <a:t>A4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3159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Full metrics table referenced against output CSV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9145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6E3A"/>
                </a:solidFill>
              </a:rPr>
              <a:t>A5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914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Pipeline execution — python3 main.py  ·  ≈4–6 min on Apple M-series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79145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6E3A"/>
                </a:solidFill>
              </a:rPr>
              <a:t>A6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7914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Model assumptions and known limitations in full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